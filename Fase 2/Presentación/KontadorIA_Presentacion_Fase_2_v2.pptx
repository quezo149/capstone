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Manrope"/>
      <p:regular r:id="rId21"/>
      <p:bold r:id="rId22"/>
    </p:embeddedFont>
    <p:embeddedFont>
      <p:font typeface="Bricolage Grotesque"/>
      <p:regular r:id="rId23"/>
      <p:bold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zOmGxuA3oyOZWi3mTWuiKfh7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83E8BE-6C23-4984-A443-61333E315E72}">
  <a:tblStyle styleId="{0083E8BE-6C23-4984-A443-61333E315E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anrope-bold.fntdata"/><Relationship Id="rId21" Type="http://schemas.openxmlformats.org/officeDocument/2006/relationships/font" Target="fonts/Manrope-regular.fntdata"/><Relationship Id="rId24" Type="http://schemas.openxmlformats.org/officeDocument/2006/relationships/font" Target="fonts/BricolageGrotesque-bold.fntdata"/><Relationship Id="rId23" Type="http://schemas.openxmlformats.org/officeDocument/2006/relationships/font" Target="fonts/BricolageGrotesq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[20 s] Presentar el nombre, la idea en una frase y al equipo con su rol.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[45 s] El problema no es la falta de datos, sino que llegan tarde, incompletos y desordenados. Perfil de referencia: pastelería de barrio con 6 trabajadores; las boletas se juntan en una caja y la dueña no sabe cuánto gastó en insumos hasta que el contador entrega el resumen.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[50 s] Las tres formas de carga son el núcleo: nadie tiene que cambiar de golpe su forma de trabajar. La carga con IA es el diferenciador. Leer el Product Goal: es el compromiso del backlog y se cumple con la versión 1.1, el 11-12-2026.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[1 min 30 s] Reproducir el video de la aplicación (máximo 1 minuto). Hoy la demo muestra el ingreso manual y el dashboard básico del mes; el registro de empresa, el inicio de sesión y el aislamiento se construyen en el Sprint 1, y la carga con IA llega en el Sprint 3. Cerrar mencionando que la landing kontadoria.cl está en producción desde el 27-09 y ya capta PYMEs para el piloto. Video de la landing, solo si preguntan: https://drive.google.com/file/d/1H9bsKkM0nC1_e3QzoB7x3il2F_jL4dHR/view</a:t>
            </a:r>
            <a:endParaRPr/>
          </a:p>
        </p:txBody>
      </p:sp>
      <p:sp>
        <p:nvSpPr>
          <p:cNvPr id="82" name="Google Shape;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[30 s] Proyecto autogestionado, sin sponsor externo. Felipe concentra el desarrollo; las pruebas y la documentación se reparten para que el desarrollador se concentre en construir.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[45 s] Planilla v2.0 (11-10-2026). Dar las cifras y explicar un solo ejemplo de cada tipo: la HU05 es la historia más crítica del proyecto, y el RNF04 muestra que cada no funcional tiene un criterio que se puede medir.</a:t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Atendiendo la observación de la docente, la Gantt se reemplazó por un roadmap por versiones. Sprints de dos semanas, salvo el Sprint 1 que dura una (12 al 16 de octubre).</a:t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Leer el Sprint Goal. Las 4 historias van en orden de dependencia: el registro crea las tablas, el inicio de sesión entrega el token validado, el aislamiento activa RLS y la gestión de empresas va encima. Si al jueves hay historias en riesgo, HU04 pasa al Sprint 2. Actualizar con el avance real según Jira el día de la presentación.</a:t>
            </a:r>
            <a:endParaRPr/>
          </a:p>
        </p:txBody>
      </p:sp>
      <p:sp>
        <p:nvSpPr>
          <p:cNvPr id="202" name="Google Shape;20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Recorrer el diagrama de izquierda a derecha: frontend en Netlify, API en Azure Functions, datos en Azure SQL con RLS, archivos en Blob Storage, IA con Document Intelligence e identidad con Entra External ID.</a:t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No leer la tabla completa: destacar 3 decisiones. Azure SQL con RLS (aislamiento en la base de datos), Document Intelligence (modelos de boleta y factura listos) y Netlify (Static Web Apps no está permitido en la región de la suscripción de Duoc). Criterio general: servicios gestionados de Azure aprovechando Azure for Students.</a:t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El modelo relacional tiene 8 tablas; las 5 con datos de negocio llevan Row-Level Security. La tabla usuarios_empresa es la clave: une usuario, empresa y rol, y de ella sale el rol, nunca del navegador. El diagrama de clases refleja el mismo dominio con 3 enumeraciones. Los casos de uso por módulo y los diagramas de componentes y despliegue están en la documentación.</a:t>
            </a:r>
            <a:endParaRPr/>
          </a:p>
        </p:txBody>
      </p:sp>
      <p:sp>
        <p:nvSpPr>
          <p:cNvPr id="261" name="Google Shape;26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Mencionar solo 3 controles: firma del token validada (401 si falla), RLS con SESSION_CONTEXT fijado en cada solicitud, y rol leído desde la base de datos. Lo planificado post MVP incluye el aviso de privacidad por la Ley 21.719, que entra en plena vigencia el 1 de diciembre de 2026.</a:t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[40 s] El riesgo más crítico es la fuga de datos entre empresas. En la IA, la regla de diseño es que la IA propone y el usuario confirma. Las restricciones de Azure for Students ya se resolvieron (Netlify, identidad en cuenta aparte y Managed Identity). Riesgos de negocio abiertos: adopción y competencia (Bsale, Softland, Defontana), a validar con el piloto.</a:t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[30 s] Operar 10 PYMEs cuesta US$ 25,41 al mes, US$ 2,54 por PYME. Costo anual estimado: US$ 304,89. Lo que crece con el uso es Document Intelligence, a US$ 0,01 por página; la importación CSV/XLSX no tiene costo de IA.</a:t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[10 s] Agradecer e invitar a preguntas.</a:t>
            </a:r>
            <a:endParaRPr/>
          </a:p>
        </p:txBody>
      </p:sp>
      <p:sp>
        <p:nvSpPr>
          <p:cNvPr id="348" name="Google Shape;3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2F5F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type="title"/>
          </p:nvPr>
        </p:nvSpPr>
        <p:spPr>
          <a:xfrm>
            <a:off x="812800" y="1102320"/>
            <a:ext cx="10566400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  <a:defRPr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812800" y="1887141"/>
            <a:ext cx="10566400" cy="4158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B2620"/>
              </a:buClr>
              <a:buSzPts val="1600"/>
              <a:buNone/>
              <a:defRPr sz="1600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12800" y="1102320"/>
            <a:ext cx="10566400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  <a:defRPr b="0" i="0" sz="3600" u="none" cap="none" strike="noStrike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12800" y="1887141"/>
            <a:ext cx="10566400" cy="4158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hyperlink" Target="http://drive.google.com/file/d/1dkF6kLRZRxNhSxD37ll5AnV1C55Aa8vH/view" TargetMode="External"/><Relationship Id="rId7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6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PROYECTO CAPSTONE · FASE 2.1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113359"/>
            <a:ext cx="6802120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8000"/>
              <a:buFont typeface="Bricolage Grotesque"/>
              <a:buNone/>
            </a:pPr>
            <a:r>
              <a:rPr b="1" i="0" lang="en-US" sz="8000">
                <a:solidFill>
                  <a:srgbClr val="E9F3E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KontadorIA</a:t>
            </a:r>
            <a:endParaRPr sz="8000"/>
          </a:p>
        </p:txBody>
      </p:sp>
      <p:sp>
        <p:nvSpPr>
          <p:cNvPr id="23" name="Google Shape;23;p1"/>
          <p:cNvSpPr/>
          <p:nvPr/>
        </p:nvSpPr>
        <p:spPr>
          <a:xfrm>
            <a:off x="812800" y="3281759"/>
            <a:ext cx="6802120" cy="7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2200"/>
              <a:buFont typeface="Manrope"/>
              <a:buNone/>
            </a:pPr>
            <a:r>
              <a:rPr b="0" i="0" lang="en-US" sz="2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Las finanzas de tu PYME, en orden: a mano, con una foto de la boleta o importando tu Excel.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095280"/>
            <a:ext cx="252187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F8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3FBF8F"/>
                </a:solidFill>
                <a:latin typeface="Manrope"/>
                <a:ea typeface="Manrope"/>
                <a:cs typeface="Manrope"/>
                <a:sym typeface="Manrope"/>
              </a:rPr>
              <a:t>INTEGRANTES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12800" y="5359400"/>
            <a:ext cx="2521874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Diego Gallardo · Scrum Master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Vicente Hermosilla · Product Owner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Felipe Quezada · Desarrollador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67621" y="5095280"/>
            <a:ext cx="115748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F8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3FBF8F"/>
                </a:solidFill>
                <a:latin typeface="Manrope"/>
                <a:ea typeface="Manrope"/>
                <a:cs typeface="Manrope"/>
                <a:sym typeface="Manrope"/>
              </a:rPr>
              <a:t>DOCENTE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67621" y="5359400"/>
            <a:ext cx="132802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Cindy Contador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80707" y="5095280"/>
            <a:ext cx="141198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F8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3FBF8F"/>
                </a:solidFill>
                <a:latin typeface="Manrope"/>
                <a:ea typeface="Manrope"/>
                <a:cs typeface="Manrope"/>
                <a:sym typeface="Manrope"/>
              </a:rPr>
              <a:t>SECCIÓN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180700" y="5359400"/>
            <a:ext cx="1412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005D · Capstone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48289" y="5095280"/>
            <a:ext cx="9652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BF8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3FBF8F"/>
                </a:solidFill>
                <a:latin typeface="Manrope"/>
                <a:ea typeface="Manrope"/>
                <a:cs typeface="Manrope"/>
                <a:sym typeface="Manrope"/>
              </a:rPr>
              <a:t>FECHA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48289" y="5359400"/>
            <a:ext cx="109728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en-US" sz="1200">
                <a:solidFill>
                  <a:srgbClr val="E9F3EE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r>
              <a:rPr b="0" i="0" lang="en-US" sz="1200" u="none" cap="none" strike="noStrike">
                <a:solidFill>
                  <a:srgbClr val="E9F3EE"/>
                </a:solidFill>
                <a:latin typeface="IBM Plex Mono"/>
                <a:ea typeface="IBM Plex Mono"/>
                <a:cs typeface="IBM Plex Mono"/>
                <a:sym typeface="IBM Plex Mono"/>
              </a:rPr>
              <a:t>-10-2026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ueña de una pequeña empresa revisando boletas en papel con una calculadora" id="37" name="Google Shape;37;p2"/>
          <p:cNvPicPr preferRelativeResize="0"/>
          <p:nvPr/>
        </p:nvPicPr>
        <p:blipFill rotWithShape="1">
          <a:blip r:embed="rId3">
            <a:alphaModFix/>
          </a:blip>
          <a:srcRect b="0" l="14444" r="14444" t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812800" y="81280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CONTEXTO Y PROBLEMÁTICA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9" name="Google Shape;39;p2"/>
          <p:cNvSpPr txBox="1"/>
          <p:nvPr>
            <p:ph type="title"/>
          </p:nvPr>
        </p:nvSpPr>
        <p:spPr>
          <a:xfrm>
            <a:off x="812800" y="1102320"/>
            <a:ext cx="5886450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Las PYMEs pierden el control de su dinero</a:t>
            </a:r>
            <a:endParaRPr sz="3600"/>
          </a:p>
        </p:txBody>
      </p:sp>
      <p:sp>
        <p:nvSpPr>
          <p:cNvPr id="40" name="Google Shape;40;p2"/>
          <p:cNvSpPr/>
          <p:nvPr/>
        </p:nvSpPr>
        <p:spPr>
          <a:xfrm>
            <a:off x="812800" y="23671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ock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46876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371600" y="2438301"/>
            <a:ext cx="4794171" cy="28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Boletas que se pierden o se registran tarde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12800" y="29513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arch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05296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371600" y="3022501"/>
            <a:ext cx="5251013" cy="28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Datos dispersos entre Excel, WhatsApp y papel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12800" y="35355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rt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63716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371600" y="3606701"/>
            <a:ext cx="5908596" cy="28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Sin saber en qué se gasta mientras el mes transcurre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12800" y="411976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" id="50" name="Google Shape;5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22136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1371600" y="4190901"/>
            <a:ext cx="5532953" cy="28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El contador recibe todo desordenado a fin de mes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2800" y="4830961"/>
            <a:ext cx="5715000" cy="629841"/>
          </a:xfrm>
          <a:prstGeom prst="roundRect">
            <a:avLst>
              <a:gd fmla="val 12098" name="adj"/>
            </a:avLst>
          </a:prstGeom>
          <a:solidFill>
            <a:srgbClr val="F5C535"/>
          </a:solidFill>
          <a:ln>
            <a:noFill/>
          </a:ln>
        </p:spPr>
        <p:txBody>
          <a:bodyPr anchorCtr="0" anchor="t" bIns="53875" lIns="130075" spcFirstLastPara="1" rIns="0" wrap="square" tIns="792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Público objetivo: micro y pequeña empresa chilena de 1 a 20 personas, sin contador interno.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KontadorIA · Proyecto Capstone · Fase 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PRODUCT VISION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12800" y="1153120"/>
            <a:ext cx="10883392" cy="1477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2200"/>
              <a:buFont typeface="Bricolage Grotesque"/>
              <a:buNone/>
            </a:pPr>
            <a:r>
              <a:rPr b="1" i="0" lang="en-US" sz="2200" u="none" cap="none" strike="noStrike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Para las PYMEs chilenas pequeñas que llevan sus gastos en Excel, WhatsApp o papel, </a:t>
            </a:r>
            <a:r>
              <a:rPr b="1" i="0" lang="en-US" sz="2200" u="none" cap="none" strike="noStrike">
                <a:solidFill>
                  <a:srgbClr val="0F6E5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KontadorIA</a:t>
            </a:r>
            <a:r>
              <a:rPr b="1" i="0" lang="en-US" sz="2200" u="none" cap="none" strike="noStrike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es una aplicación web que les permite registrar cada movimiento y ver en qué se va su dinero mientras el mes transcurre, sin aprender contabilidad.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15975" y="2913658"/>
            <a:ext cx="3384550" cy="1296591"/>
          </a:xfrm>
          <a:prstGeom prst="roundRect">
            <a:avLst>
              <a:gd fmla="val 1053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nch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150" y="3170833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1428750" y="3175893"/>
            <a:ext cx="86284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Manual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73150" y="3526433"/>
            <a:ext cx="295630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Formulario con monto, fecha, categoría y descripción. Para registros rápidos.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406900" y="2910483"/>
            <a:ext cx="3378200" cy="1302941"/>
          </a:xfrm>
          <a:prstGeom prst="roundRect">
            <a:avLst>
              <a:gd fmla="val 10722" name="adj"/>
            </a:avLst>
          </a:prstGeom>
          <a:solidFill>
            <a:srgbClr val="0B2620"/>
          </a:solidFill>
          <a:ln>
            <a:noFill/>
          </a:ln>
          <a:effectLst>
            <a:outerShdw blurRad="190500" rotWithShape="0" algn="bl" dir="5400000" dist="63500">
              <a:srgbClr val="0B26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ghtni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900" y="3164483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5016500" y="3169543"/>
            <a:ext cx="1995964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Foto o PDF con IA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660900" y="3520083"/>
            <a:ext cx="295630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La IA lee la boleta o factura; el usuario revisa y confirma antes de guardar.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991475" y="2913658"/>
            <a:ext cx="3384550" cy="1296591"/>
          </a:xfrm>
          <a:prstGeom prst="roundRect">
            <a:avLst>
              <a:gd fmla="val 1053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8650" y="3170833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8604250" y="3175893"/>
            <a:ext cx="228528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Importar CSV/XLSX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48650" y="3526433"/>
            <a:ext cx="295630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El Excel que ya usan, con plantilla, validación por fila y vista previa.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12800" y="4518223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Sobre esos movimientos: categorías, presupuestos, filtros, exportación y un dashboard del mes, con los datos de cada empresa aislados.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KontadorIA · Proyecto Capstone · Fase 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12800" y="4930000"/>
            <a:ext cx="10566400" cy="1080000"/>
          </a:xfrm>
          <a:prstGeom prst="roundRect">
            <a:avLst>
              <a:gd fmla="val 10722" name="adj"/>
            </a:avLst>
          </a:prstGeom>
          <a:solidFill>
            <a:srgbClr val="0B2620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066800" y="5060000"/>
            <a:ext cx="22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PRODUCT GOAL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1066800" y="5330000"/>
            <a:ext cx="1006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Que las PYMEs chilenas pequeñas centralicen y controlen sus movimientos sin conocimientos contables, cada persona según su rol y con la información de cada empresa protegida. Se cumple con la versión 1.1, el 11-12-2026.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6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12800" y="2131120"/>
            <a:ext cx="36626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DEMO · LANDING Y APLICACIÓN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812800" y="2420640"/>
            <a:ext cx="3662680" cy="98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E9F3E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 app en acción</a:t>
            </a:r>
            <a:endParaRPr sz="3600"/>
          </a:p>
        </p:txBody>
      </p:sp>
      <p:pic>
        <p:nvPicPr>
          <p:cNvPr descr="Wrench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35838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1143000" y="3591520"/>
            <a:ext cx="306669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Ingreso manual de gastos e ingresos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Chart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39394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1143000" y="3947120"/>
            <a:ext cx="217360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Dashboard del mes actual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Activity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0" y="4295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1143000" y="4302720"/>
            <a:ext cx="25822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Versión demo, en construcción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1A9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9DB1A9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4614175" y="1240825"/>
            <a:ext cx="6824400" cy="3830100"/>
          </a:xfrm>
          <a:prstGeom prst="roundRect">
            <a:avLst>
              <a:gd fmla="val 3469" name="adj"/>
            </a:avLst>
          </a:prstGeom>
          <a:solidFill>
            <a:srgbClr val="13201C"/>
          </a:solidFill>
          <a:ln cap="flat" cmpd="sng" w="19050">
            <a:solidFill>
              <a:srgbClr val="3FBF8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3" title="AppVideo.m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3550" y="1269919"/>
            <a:ext cx="6705648" cy="3771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tivity" id="95" name="Google Shape;9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0" y="4650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1143000" y="4658320"/>
            <a:ext cx="33000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Landing kontadoria.cl, en producción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EQUIPO Y ROLES SCRUM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" name="Google Shape;103;p5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Quién hace qué en el proyecto</a:t>
            </a:r>
            <a:endParaRPr sz="3600"/>
          </a:p>
        </p:txBody>
      </p:sp>
      <p:sp>
        <p:nvSpPr>
          <p:cNvPr id="104" name="Google Shape;104;p5"/>
          <p:cNvSpPr/>
          <p:nvPr/>
        </p:nvSpPr>
        <p:spPr>
          <a:xfrm>
            <a:off x="815975" y="1890316"/>
            <a:ext cx="3380284" cy="2403773"/>
          </a:xfrm>
          <a:prstGeom prst="roundRect">
            <a:avLst>
              <a:gd fmla="val 568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73150" y="218549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ar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750" y="228709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581150" y="2147491"/>
            <a:ext cx="220908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Vicente Hermosilla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581150" y="2416671"/>
            <a:ext cx="189613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Product Owner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65606" y="2756991"/>
            <a:ext cx="2851836" cy="1305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Ordena el Product Backlog según el valor para la PYME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Acepta las historias en la Sprint Review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Mantiene el roadmap y la documentación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405809" y="1890316"/>
            <a:ext cx="3380383" cy="2403773"/>
          </a:xfrm>
          <a:prstGeom prst="roundRect">
            <a:avLst>
              <a:gd fmla="val 568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662984" y="218549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s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584" y="228709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5170984" y="2147491"/>
            <a:ext cx="1727954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Diego Gallardo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170984" y="2416671"/>
            <a:ext cx="149076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Scrum Master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55440" y="2756991"/>
            <a:ext cx="2851938" cy="1305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Facilita Planning, Daily, Review y Retrospectiva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Elimina impedimentos y lleva el burndown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Ejecuta las pruebas de seguridad (QA)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995741" y="1890316"/>
            <a:ext cx="3380284" cy="2403773"/>
          </a:xfrm>
          <a:prstGeom prst="roundRect">
            <a:avLst>
              <a:gd fmla="val 568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252916" y="2185491"/>
            <a:ext cx="406400" cy="406400"/>
          </a:xfrm>
          <a:prstGeom prst="roundRect">
            <a:avLst>
              <a:gd fmla="val 50000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de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4516" y="228709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8760916" y="2147491"/>
            <a:ext cx="1789628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Felipe Quezada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760916" y="2416671"/>
            <a:ext cx="154215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Desarrollador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345372" y="2756991"/>
            <a:ext cx="2851836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Construye backend, frontend, base de datos y RLS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Estima las historias en story points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Mantiene la infraestructura Azure y el CI/CD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12800" y="4602063"/>
            <a:ext cx="1753890" cy="340320"/>
          </a:xfrm>
          <a:prstGeom prst="roundRect">
            <a:avLst>
              <a:gd fmla="val 50000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Sprints de 2 semanas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668290" y="4602063"/>
            <a:ext cx="1584127" cy="340320"/>
          </a:xfrm>
          <a:prstGeom prst="roundRect">
            <a:avLst>
              <a:gd fmla="val 50000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Daily de 15 minutos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354016" y="4602063"/>
            <a:ext cx="2177554" cy="340320"/>
          </a:xfrm>
          <a:prstGeom prst="roundRect">
            <a:avLst>
              <a:gd fmla="val 50000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Jira · proyecto KONTADORIA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633170" y="4602063"/>
            <a:ext cx="2004120" cy="340320"/>
          </a:xfrm>
          <a:prstGeom prst="roundRect">
            <a:avLst>
              <a:gd fmla="val 50000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13-08-2026 al 11-12-2026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KontadorIA · Proyecto Capstone · Fase 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REQUERIMIENTOS · PLANILLA V2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Qué debe hacer el sistema</a:t>
            </a:r>
            <a:endParaRPr sz="3600"/>
          </a:p>
        </p:txBody>
      </p:sp>
      <p:sp>
        <p:nvSpPr>
          <p:cNvPr id="135" name="Google Shape;135;p6"/>
          <p:cNvSpPr/>
          <p:nvPr/>
        </p:nvSpPr>
        <p:spPr>
          <a:xfrm>
            <a:off x="812800" y="1836341"/>
            <a:ext cx="2479675" cy="1429941"/>
          </a:xfrm>
          <a:prstGeom prst="roundRect">
            <a:avLst>
              <a:gd fmla="val 9770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1400" y="2014141"/>
            <a:ext cx="20831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F5C5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21</a:t>
            </a:r>
            <a:endParaRPr b="0" i="0" sz="4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1400" y="2649141"/>
            <a:ext cx="208314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requisitos funcionales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498850" y="1839516"/>
            <a:ext cx="2486025" cy="1423591"/>
          </a:xfrm>
          <a:prstGeom prst="roundRect">
            <a:avLst>
              <a:gd fmla="val 959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730625" y="2020491"/>
            <a:ext cx="20831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0F6E5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</a:t>
            </a:r>
            <a:endParaRPr b="0" i="0" sz="4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730625" y="2655491"/>
            <a:ext cx="208314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no funcionales, con criterio verificable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194425" y="1839516"/>
            <a:ext cx="2486025" cy="1423591"/>
          </a:xfrm>
          <a:prstGeom prst="roundRect">
            <a:avLst>
              <a:gd fmla="val 959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26200" y="2020491"/>
            <a:ext cx="20831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0F6E5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</a:t>
            </a:r>
            <a:endParaRPr b="0" i="0" sz="4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26200" y="2655491"/>
            <a:ext cx="22510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historias de usuario trazadas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890000" y="1839516"/>
            <a:ext cx="2486025" cy="1423591"/>
          </a:xfrm>
          <a:prstGeom prst="roundRect">
            <a:avLst>
              <a:gd fmla="val 9590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121775" y="2020491"/>
            <a:ext cx="20831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4800"/>
              <a:buFont typeface="Bricolage Grotesque"/>
              <a:buNone/>
            </a:pPr>
            <a:r>
              <a:rPr b="1" i="0" lang="en-US" sz="4800" u="none" cap="none" strike="noStrike">
                <a:solidFill>
                  <a:srgbClr val="0F6E5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84</a:t>
            </a:r>
            <a:endParaRPr b="0" i="0" sz="4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121775" y="2655491"/>
            <a:ext cx="208314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story points en 5 sprints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Cada requisito funcional apunta a una historia y a un sprint; cada no funcional tiene un criterio medible.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15975" y="3523456"/>
            <a:ext cx="6300000" cy="2480000"/>
          </a:xfrm>
          <a:prstGeom prst="roundRect">
            <a:avLst>
              <a:gd fmla="val 10722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045975" y="3693456"/>
            <a:ext cx="58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HISTORIA DE USUARIO · HU05 · 5 PTS · SPRINT 1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1045975" y="3963456"/>
            <a:ext cx="584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Como usuario de una empresa, quiero acceder solo a la información que me corresponde, para mantener protegidos los datos financieros.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1045975" y="4543456"/>
            <a:ext cx="58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Criterios de aceptación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045975" y="4793456"/>
            <a:ext cx="584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–  </a:t>
            </a: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Un usuario de la empresa A no ve datos de la empresa B, con cualquier rol.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–  </a:t>
            </a: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Un empleado solo ve los movimientos que él registró.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–  </a:t>
            </a: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Se aplica en la base de datos (RLS), aunque se llame a la API directamente.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344575" y="3523456"/>
            <a:ext cx="4031450" cy="2480000"/>
          </a:xfrm>
          <a:prstGeom prst="roundRect">
            <a:avLst>
              <a:gd fmla="val 10722" name="adj"/>
            </a:avLst>
          </a:prstGeom>
          <a:solidFill>
            <a:srgbClr val="0B2620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574575" y="3693456"/>
            <a:ext cx="35714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NO FUNCIONAL · RNF04 · RENDIMIENTO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7574575" y="3963456"/>
            <a:ext cx="357145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Tiempo de respuesta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7574575" y="4343456"/>
            <a:ext cx="357145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Consultas y registros responden en menos de 2 segundos.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7574575" y="4943456"/>
            <a:ext cx="35714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Criterio de verificación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7574575" y="5193456"/>
            <a:ext cx="357145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95 % de las solicitudes bajo 2 s, medido en Application Insights.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PRODUCT ROADMAP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" name="Google Shape;166;p7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Cuatro horizontes hacia el Goal</a:t>
            </a:r>
            <a:endParaRPr sz="3600"/>
          </a:p>
        </p:txBody>
      </p:sp>
      <p:sp>
        <p:nvSpPr>
          <p:cNvPr id="167" name="Google Shape;167;p7"/>
          <p:cNvSpPr/>
          <p:nvPr/>
        </p:nvSpPr>
        <p:spPr>
          <a:xfrm>
            <a:off x="812800" y="1836341"/>
            <a:ext cx="2517775" cy="2214563"/>
          </a:xfrm>
          <a:prstGeom prst="roundRect">
            <a:avLst>
              <a:gd fmla="val 6308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Circle"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204460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1282700" y="2039541"/>
            <a:ext cx="108930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Completada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16000" y="2329061"/>
            <a:ext cx="217471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Fase 0 · Fundaciones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16000" y="2649041"/>
            <a:ext cx="21747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ago – sep 2026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016000" y="2938562"/>
            <a:ext cx="2174716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Azure, CI/CD, dominio y landing con el formulario del piloto.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482975" y="1836341"/>
            <a:ext cx="2517775" cy="2214563"/>
          </a:xfrm>
          <a:prstGeom prst="roundRect">
            <a:avLst>
              <a:gd fmla="val 6308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686175" y="2039541"/>
            <a:ext cx="21747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En curso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686175" y="2329061"/>
            <a:ext cx="217471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Versión 1.0 · MVP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686175" y="2649041"/>
            <a:ext cx="23145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1A9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9DB1A9"/>
                </a:solidFill>
                <a:latin typeface="IBM Plex Mono"/>
                <a:ea typeface="IBM Plex Mono"/>
                <a:cs typeface="IBM Plex Mono"/>
                <a:sym typeface="IBM Plex Mono"/>
              </a:rPr>
              <a:t>Sprints 1–3 · oct – nov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86175" y="2938562"/>
            <a:ext cx="2174716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Registro, login, roles, aislamiento, carga manual y con IA, dashboard.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156325" y="1839516"/>
            <a:ext cx="2524125" cy="2208213"/>
          </a:xfrm>
          <a:prstGeom prst="roundRect">
            <a:avLst>
              <a:gd fmla="val 6183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362700" y="2045891"/>
            <a:ext cx="21747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Planificada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362700" y="2335411"/>
            <a:ext cx="2174716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Versión 1.1 · Alcance completo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362700" y="2899172"/>
            <a:ext cx="23145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Sprints 4–5 · nov – dic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362700" y="3188692"/>
            <a:ext cx="217471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Importación CSV/XLSX, exportación y presupuestos.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842375" y="1842691"/>
            <a:ext cx="2530475" cy="2201863"/>
          </a:xfrm>
          <a:prstGeom prst="roundRect">
            <a:avLst>
              <a:gd fmla="val 6056" name="adj"/>
            </a:avLst>
          </a:prstGeom>
          <a:solidFill>
            <a:srgbClr val="F2F5F3"/>
          </a:solidFill>
          <a:ln cap="flat" cmpd="sng" w="12700">
            <a:solidFill>
              <a:srgbClr val="4D625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051925" y="2052241"/>
            <a:ext cx="21747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Después del título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051925" y="2341761"/>
            <a:ext cx="2174716" cy="512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600"/>
              <a:buFont typeface="Manrope"/>
              <a:buNone/>
            </a:pPr>
            <a:r>
              <a:rPr b="1" i="0" lang="en-US" sz="16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Piloto y monetización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9051925" y="2905522"/>
            <a:ext cx="21747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2027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051925" y="3195042"/>
            <a:ext cx="2174716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PYMEs piloto, planes y pasarela de pago, backlog futuro.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12800" y="4304903"/>
            <a:ext cx="20929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27-sep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12800" y="4543623"/>
            <a:ext cx="209296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Landing en producción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2946400" y="4304903"/>
            <a:ext cx="20929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16-oct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946400" y="4543623"/>
            <a:ext cx="209296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Fin Sprint 1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80000" y="4304903"/>
            <a:ext cx="20929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13-nov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80000" y="4543623"/>
            <a:ext cx="209296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Versión 1.0 · MVP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213600" y="4304903"/>
            <a:ext cx="20929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27-nov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213600" y="4543623"/>
            <a:ext cx="209296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Tres flujos de carga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9347200" y="4304903"/>
            <a:ext cx="20929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IBM Plex Mono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11-dic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347200" y="4543623"/>
            <a:ext cx="2092960" cy="223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Versión 1.1 completa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SPRINT BACKLOG · SPRINT 1 · 12 AL 16 DE OCTUBRE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5" name="Google Shape;205;p18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Sprint 1: base y acceso</a:t>
            </a:r>
            <a:endParaRPr sz="3600"/>
          </a:p>
        </p:txBody>
      </p:sp>
      <p:sp>
        <p:nvSpPr>
          <p:cNvPr id="206" name="Google Shape;206;p1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Se sigue a diario en el Daily Scrum y en Jira (proyecto KONTADORIA), con burndown.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12800" y="1836341"/>
            <a:ext cx="10566400" cy="1060000"/>
          </a:xfrm>
          <a:prstGeom prst="roundRect">
            <a:avLst>
              <a:gd fmla="val 10722" name="adj"/>
            </a:avLst>
          </a:prstGeom>
          <a:solidFill>
            <a:srgbClr val="0B2620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066800" y="1966341"/>
            <a:ext cx="24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SPRINT GOAL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066800" y="2236341"/>
            <a:ext cx="10058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Un dueño de PYME puede registrarse, crear su empresa e iniciar sesión, con los datos aislados por empresa y las categorías predefinidas disponibles.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812800" y="3125000"/>
            <a:ext cx="2470150" cy="1300000"/>
          </a:xfrm>
          <a:prstGeom prst="roundRect">
            <a:avLst>
              <a:gd fmla="val 10722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012800" y="3295000"/>
            <a:ext cx="20701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HU17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012800" y="3565000"/>
            <a:ext cx="207015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Registro de cuenta y empresa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012800" y="4135000"/>
            <a:ext cx="207015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5 pts · 5 tareas · Alta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3511550" y="3125000"/>
            <a:ext cx="2470150" cy="1300000"/>
          </a:xfrm>
          <a:prstGeom prst="roundRect">
            <a:avLst>
              <a:gd fmla="val 10722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3711550" y="3295000"/>
            <a:ext cx="20701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HU01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3711550" y="3565000"/>
            <a:ext cx="207015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Inicio de sesión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3711550" y="4135000"/>
            <a:ext cx="207015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3 pts · 5 tareas · Alta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210300" y="3125000"/>
            <a:ext cx="2470150" cy="1300000"/>
          </a:xfrm>
          <a:prstGeom prst="roundRect">
            <a:avLst>
              <a:gd fmla="val 10722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6410300" y="3295000"/>
            <a:ext cx="20701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HU05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410300" y="3565000"/>
            <a:ext cx="207015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Aislamiento de información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410300" y="4135000"/>
            <a:ext cx="207015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5 pts · 4 tareas · Alta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8909050" y="3125000"/>
            <a:ext cx="2470150" cy="1300000"/>
          </a:xfrm>
          <a:prstGeom prst="roundRect">
            <a:avLst>
              <a:gd fmla="val 10722" name="adj"/>
            </a:avLst>
          </a:prstGeom>
          <a:solidFill>
            <a:srgbClr val="FFFFFF"/>
          </a:solidFill>
          <a:ln>
            <a:noFill/>
          </a:ln>
          <a:effectLst>
            <a:outerShdw blurRad="190500" rotWithShape="0" algn="bl" dir="5400000" dist="63500">
              <a:srgbClr val="0B262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9109050" y="3295000"/>
            <a:ext cx="207015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HU04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9109050" y="3565000"/>
            <a:ext cx="207015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Gestión de empresas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09050" y="4135000"/>
            <a:ext cx="207015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5 pts · 3 tareas · Media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812800" y="4653600"/>
            <a:ext cx="10566400" cy="1100000"/>
          </a:xfrm>
          <a:prstGeom prst="roundRect">
            <a:avLst>
              <a:gd fmla="val 10722" name="adj"/>
            </a:avLst>
          </a:prstGeom>
          <a:solidFill>
            <a:srgbClr val="D7EC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1066800" y="4803600"/>
            <a:ext cx="260000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18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story points · 17 tareas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3912800" y="4803600"/>
            <a:ext cx="7212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Definición de Terminado: </a:t>
            </a: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cumple sus criterios de aceptación, pasa las pruebas (401, 403 y aislamiento), queda desplegada con GitHub Actions y el Product Owner la acepta en la Review.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Reparto: </a:t>
            </a: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Felipe 13 tareas de desarrollo · Diego 3 de pruebas · Vicente 1 de documentación.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ARQUITECTURA SELECCIONADA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8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SaaS multiempresa sobre Azure</a:t>
            </a:r>
            <a:endParaRPr sz="3600"/>
          </a:p>
        </p:txBody>
      </p:sp>
      <p:sp>
        <p:nvSpPr>
          <p:cNvPr id="237" name="Google Shape;237;p8"/>
          <p:cNvSpPr/>
          <p:nvPr/>
        </p:nvSpPr>
        <p:spPr>
          <a:xfrm>
            <a:off x="815975" y="1839516"/>
            <a:ext cx="7105650" cy="3676650"/>
          </a:xfrm>
          <a:prstGeom prst="roundRect">
            <a:avLst>
              <a:gd fmla="val 3713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 de arquitectura: usuario, aplicación React en Netlify, backend FastAPI en Azure Functions, Entra External ID, Azure SQL, Blob Storage, Document Intelligence y Application Insights" id="238" name="Google Shape;238;p8"/>
          <p:cNvPicPr preferRelativeResize="0"/>
          <p:nvPr/>
        </p:nvPicPr>
        <p:blipFill rotWithShape="1">
          <a:blip r:embed="rId3">
            <a:alphaModFix/>
          </a:blip>
          <a:srcRect b="-4605" l="0" r="0" t="-4605"/>
          <a:stretch/>
        </p:blipFill>
        <p:spPr>
          <a:xfrm>
            <a:off x="946150" y="1963341"/>
            <a:ext cx="68453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8178800" y="1836341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React + Vite (PWA) en Netlify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178800" y="2362002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API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FastAPI en Azure Functions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178800" y="2887663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Azure SQL con Row-Level Security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178800" y="3413323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Archivos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Blob Storage, uno por empresa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178800" y="3938984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Document Intelligence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178800" y="4464645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Identidad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Entra External ID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¿POR QUÉ ESTAS TECNOLOGÍAS?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2" name="Google Shape;252;p9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Versiones y argumentos</a:t>
            </a:r>
            <a:endParaRPr sz="3600"/>
          </a:p>
        </p:txBody>
      </p:sp>
      <p:sp>
        <p:nvSpPr>
          <p:cNvPr id="253" name="Google Shape;253;p9"/>
          <p:cNvSpPr/>
          <p:nvPr/>
        </p:nvSpPr>
        <p:spPr>
          <a:xfrm>
            <a:off x="812800" y="1836341"/>
            <a:ext cx="10566400" cy="3012281"/>
          </a:xfrm>
          <a:prstGeom prst="roundRect">
            <a:avLst>
              <a:gd fmla="val 33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12800" y="1836341"/>
            <a:ext cx="10566400" cy="3012281"/>
          </a:xfrm>
          <a:custGeom>
            <a:rect b="b" l="l" r="r" t="t"/>
            <a:pathLst>
              <a:path extrusionOk="0" h="3012281" w="10566400">
                <a:moveTo>
                  <a:pt x="10464800" y="0"/>
                </a:moveTo>
                <a:lnTo>
                  <a:pt x="10464800" y="0"/>
                </a:lnTo>
                <a:cubicBezTo>
                  <a:pt x="10491746" y="0"/>
                  <a:pt x="10517588" y="10704"/>
                  <a:pt x="10536642" y="29758"/>
                </a:cubicBezTo>
                <a:cubicBezTo>
                  <a:pt x="10555696" y="48812"/>
                  <a:pt x="10566400" y="74654"/>
                  <a:pt x="10566400" y="101600"/>
                </a:cubicBezTo>
                <a:lnTo>
                  <a:pt x="10566400" y="2910681"/>
                </a:lnTo>
                <a:cubicBezTo>
                  <a:pt x="10566400" y="2966793"/>
                  <a:pt x="10520912" y="3012281"/>
                  <a:pt x="10464800" y="3012281"/>
                </a:cubicBezTo>
                <a:lnTo>
                  <a:pt x="101600" y="3012281"/>
                </a:lnTo>
                <a:cubicBezTo>
                  <a:pt x="45488" y="3012281"/>
                  <a:pt x="0" y="2966793"/>
                  <a:pt x="0" y="2910681"/>
                </a:cubicBezTo>
                <a:lnTo>
                  <a:pt x="0" y="2910681"/>
                </a:lnTo>
                <a:cubicBezTo>
                  <a:pt x="0" y="2963286"/>
                  <a:pt x="45488" y="3005931"/>
                  <a:pt x="101600" y="3005931"/>
                </a:cubicBezTo>
                <a:lnTo>
                  <a:pt x="10464800" y="3005931"/>
                </a:lnTo>
                <a:cubicBezTo>
                  <a:pt x="10517405" y="3005931"/>
                  <a:pt x="10560050" y="2963286"/>
                  <a:pt x="10560050" y="2910681"/>
                </a:cubicBezTo>
                <a:lnTo>
                  <a:pt x="10560050" y="101600"/>
                </a:lnTo>
                <a:cubicBezTo>
                  <a:pt x="10560050" y="45488"/>
                  <a:pt x="10517405" y="0"/>
                  <a:pt x="10464800" y="0"/>
                </a:cubicBezTo>
                <a:close/>
              </a:path>
            </a:pathLst>
          </a:custGeom>
          <a:solidFill>
            <a:srgbClr val="D5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12800" y="1836341"/>
            <a:ext cx="10566400" cy="3012281"/>
          </a:xfrm>
          <a:custGeom>
            <a:rect b="b" l="l" r="r" t="t"/>
            <a:pathLst>
              <a:path extrusionOk="0" h="3012281" w="10566400">
                <a:moveTo>
                  <a:pt x="101600" y="3012281"/>
                </a:moveTo>
                <a:lnTo>
                  <a:pt x="101600" y="3012281"/>
                </a:lnTo>
                <a:cubicBezTo>
                  <a:pt x="45488" y="3012281"/>
                  <a:pt x="0" y="2966793"/>
                  <a:pt x="0" y="2910681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10464800" y="0"/>
                </a:lnTo>
                <a:cubicBezTo>
                  <a:pt x="10491746" y="0"/>
                  <a:pt x="10517588" y="10704"/>
                  <a:pt x="10536642" y="29758"/>
                </a:cubicBezTo>
                <a:cubicBezTo>
                  <a:pt x="10555696" y="48812"/>
                  <a:pt x="10566400" y="74654"/>
                  <a:pt x="10566400" y="101600"/>
                </a:cubicBezTo>
                <a:lnTo>
                  <a:pt x="10566400" y="101600"/>
                </a:lnTo>
                <a:cubicBezTo>
                  <a:pt x="10566400" y="52502"/>
                  <a:pt x="10520912" y="12700"/>
                  <a:pt x="10464800" y="12700"/>
                </a:cubicBezTo>
                <a:lnTo>
                  <a:pt x="101600" y="12700"/>
                </a:lnTo>
                <a:cubicBezTo>
                  <a:pt x="52502" y="12700"/>
                  <a:pt x="12700" y="52502"/>
                  <a:pt x="12700" y="101600"/>
                </a:cubicBezTo>
                <a:lnTo>
                  <a:pt x="12700" y="2910681"/>
                </a:lnTo>
                <a:cubicBezTo>
                  <a:pt x="12700" y="2966793"/>
                  <a:pt x="52502" y="3012281"/>
                  <a:pt x="101600" y="3012281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6" name="Google Shape;256;p9"/>
          <p:cNvGraphicFramePr/>
          <p:nvPr/>
        </p:nvGraphicFramePr>
        <p:xfrm>
          <a:off x="825500" y="1849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{0083E8BE-6C23-4984-A443-61333E315E72}</a:tableStyleId>
              </a:tblPr>
              <a:tblGrid>
                <a:gridCol w="3586100"/>
                <a:gridCol w="3480625"/>
                <a:gridCol w="348062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F3EE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9F3EE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Tecnología y versión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35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C535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Por qué la elegimos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F3EE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9F3EE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Alternativa descartada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React 19.2 + Vite 8.3 · PWA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UI modular, responsive e instalable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Angular: más de lo necesario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Netlify · plan gratuito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Publica cada cambio, sin costo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Static Web Apps: </a:t>
                      </a:r>
                      <a:r>
                        <a:rPr lang="en-US" sz="1200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costo por página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FastAPI (Python 3.13) en Functions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API tipada, escala y cobra por uso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Spring Boot: servidor permanente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Azure SQL + Row-Level Security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Relacional y aislamiento en la BD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NoSQL: los datos tienen relaciones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Azure Blob Storage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Un contenedor por empresa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Archivos en la BD: más tamaño y costo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Azure AI Document Intelligence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Modelos de boleta y factura listos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Modelo propio: demasiado tiempo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Entra External ID + MSAL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 guardamos contraseñas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Azure AD B2C: sin venta desde 2025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GitHub Actions + App Insights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Deploy con OIDC y logs integrados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Otra plataforma: más costo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MODELO DE DATOS Y DIAGRAMAS UML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4" name="Google Shape;264;p19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Diseño del sistema</a:t>
            </a:r>
            <a:endParaRPr sz="3600"/>
          </a:p>
        </p:txBody>
      </p:sp>
      <p:sp>
        <p:nvSpPr>
          <p:cNvPr id="265" name="Google Shape;265;p19"/>
          <p:cNvSpPr/>
          <p:nvPr/>
        </p:nvSpPr>
        <p:spPr>
          <a:xfrm>
            <a:off x="815975" y="1839516"/>
            <a:ext cx="7105650" cy="3676650"/>
          </a:xfrm>
          <a:prstGeom prst="roundRect">
            <a:avLst>
              <a:gd fmla="val 3713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Modelo relacional de KontadorIA: 8 tablas" id="267" name="Google Shape;2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991" y="1963341"/>
            <a:ext cx="3107200" cy="32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 de clases de KontadorIA" id="268" name="Google Shape;2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3207" y="1963341"/>
            <a:ext cx="2678400" cy="32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1255991" y="5220000"/>
            <a:ext cx="31072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Modelo relacional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4803207" y="5220000"/>
            <a:ext cx="26784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Diagrama de clases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8178800" y="1836341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Modelo relacional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8 tablas; 5 con Row-Level Security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8178800" y="2362002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Clave del aislamiento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usuarios_empresa une usuario, empresa y rol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8178800" y="2887663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Diagrama de clases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8 clases y 3 enumeraciones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8178800" y="3413324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Casos de uso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Un diagrama por módulo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8178800" y="3938985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Componentes y despliegue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Vista de la arquitectura en Azure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8178800" y="4464646"/>
            <a:ext cx="329641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Integridad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CHECK en tipo, monto, origen y rol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PROTOCOLOS DE SEGURIDAD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10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Seguridad por capas, con estado real</a:t>
            </a:r>
            <a:endParaRPr sz="3600"/>
          </a:p>
        </p:txBody>
      </p:sp>
      <p:sp>
        <p:nvSpPr>
          <p:cNvPr id="284" name="Google Shape;284;p10"/>
          <p:cNvSpPr/>
          <p:nvPr/>
        </p:nvSpPr>
        <p:spPr>
          <a:xfrm>
            <a:off x="815975" y="1839525"/>
            <a:ext cx="3375900" cy="2783100"/>
          </a:xfrm>
          <a:prstGeom prst="roundRect">
            <a:avLst>
              <a:gd fmla="val 5438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047750" y="2045891"/>
            <a:ext cx="1271588" cy="289520"/>
          </a:xfrm>
          <a:custGeom>
            <a:rect b="b" l="l" r="r" t="t"/>
            <a:pathLst>
              <a:path extrusionOk="0" h="289520" w="1271588">
                <a:moveTo>
                  <a:pt x="144760" y="0"/>
                </a:moveTo>
                <a:lnTo>
                  <a:pt x="1126827" y="0"/>
                </a:lnTo>
                <a:cubicBezTo>
                  <a:pt x="1165220" y="0"/>
                  <a:pt x="1202040" y="15251"/>
                  <a:pt x="1229188" y="42399"/>
                </a:cubicBezTo>
                <a:cubicBezTo>
                  <a:pt x="1256336" y="69547"/>
                  <a:pt x="1271587" y="106367"/>
                  <a:pt x="1271587" y="144760"/>
                </a:cubicBezTo>
                <a:lnTo>
                  <a:pt x="1271588" y="144760"/>
                </a:lnTo>
                <a:cubicBezTo>
                  <a:pt x="1271588" y="224709"/>
                  <a:pt x="1206777" y="289520"/>
                  <a:pt x="1126828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0F6E55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Implementado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140206" y="2437011"/>
            <a:ext cx="2899765" cy="1731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Consultas parametrizadas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Validación con Pydantic y CHECK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CORS con lista blanca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Honeypot anti-bots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Escape de salida contra XSS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Secretos fuera del repositorio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Despliegue con OIDC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Cifrado TLS y TDE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401550" y="1839525"/>
            <a:ext cx="3376200" cy="2192700"/>
          </a:xfrm>
          <a:prstGeom prst="roundRect">
            <a:avLst>
              <a:gd fmla="val 6552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633317" y="2045891"/>
            <a:ext cx="1774329" cy="289520"/>
          </a:xfrm>
          <a:custGeom>
            <a:rect b="b" l="l" r="r" t="t"/>
            <a:pathLst>
              <a:path extrusionOk="0" h="289520" w="1774329">
                <a:moveTo>
                  <a:pt x="144760" y="0"/>
                </a:moveTo>
                <a:lnTo>
                  <a:pt x="1629569" y="0"/>
                </a:lnTo>
                <a:cubicBezTo>
                  <a:pt x="1667962" y="0"/>
                  <a:pt x="1704782" y="15251"/>
                  <a:pt x="1731930" y="42399"/>
                </a:cubicBezTo>
                <a:cubicBezTo>
                  <a:pt x="1759078" y="69547"/>
                  <a:pt x="1774329" y="106367"/>
                  <a:pt x="1774329" y="144760"/>
                </a:cubicBezTo>
                <a:lnTo>
                  <a:pt x="1774329" y="144760"/>
                </a:lnTo>
                <a:cubicBezTo>
                  <a:pt x="1774329" y="224709"/>
                  <a:pt x="1709518" y="289520"/>
                  <a:pt x="1629569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F5C535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En desarrollo · S1 a S3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725773" y="2437011"/>
            <a:ext cx="2899867" cy="1305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Firma del token validada (JWKS)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RLS y pruebas de aislamiento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Rol leído desde la base de datos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Invitaciones de un uso, 72 h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Archivos por empresa con enlaces que expiran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990375" y="1842701"/>
            <a:ext cx="3382500" cy="2037600"/>
          </a:xfrm>
          <a:prstGeom prst="roundRect">
            <a:avLst>
              <a:gd fmla="val 7057" name="adj"/>
            </a:avLst>
          </a:prstGeom>
          <a:solidFill>
            <a:srgbClr val="F2F5F3"/>
          </a:solidFill>
          <a:ln cap="flat" cmpd="sng" w="12700">
            <a:solidFill>
              <a:srgbClr val="4D625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228509" y="2055416"/>
            <a:ext cx="1832570" cy="29587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4D62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Planificado · post MVP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317790" y="2456061"/>
            <a:ext cx="2899867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Usuario SQL de menor privilegio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Aviso de privacidad (Ley 21.719)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Rate limiting y Turnstile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Cabeceras HTTP y CSP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1544" lvl="0" marL="16154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Char char="•"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MFA en Netlify y 2FA en GitHub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RIESGOS PRINCIPALES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0" name="Google Shape;300;p11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Incluidos los de la IA</a:t>
            </a:r>
            <a:endParaRPr sz="3600"/>
          </a:p>
        </p:txBody>
      </p:sp>
      <p:sp>
        <p:nvSpPr>
          <p:cNvPr id="301" name="Google Shape;301;p11"/>
          <p:cNvSpPr/>
          <p:nvPr/>
        </p:nvSpPr>
        <p:spPr>
          <a:xfrm>
            <a:off x="812800" y="1836341"/>
            <a:ext cx="10566400" cy="2347125"/>
          </a:xfrm>
          <a:prstGeom prst="roundRect">
            <a:avLst>
              <a:gd fmla="val 37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812800" y="1836341"/>
            <a:ext cx="10566400" cy="2347125"/>
          </a:xfrm>
          <a:custGeom>
            <a:rect b="b" l="l" r="r" t="t"/>
            <a:pathLst>
              <a:path extrusionOk="0" h="2347125" w="10566400">
                <a:moveTo>
                  <a:pt x="10464800" y="0"/>
                </a:moveTo>
                <a:lnTo>
                  <a:pt x="10464800" y="0"/>
                </a:lnTo>
                <a:cubicBezTo>
                  <a:pt x="10491746" y="0"/>
                  <a:pt x="10517588" y="10704"/>
                  <a:pt x="10536642" y="29758"/>
                </a:cubicBezTo>
                <a:cubicBezTo>
                  <a:pt x="10555696" y="48812"/>
                  <a:pt x="10566400" y="74654"/>
                  <a:pt x="10566400" y="101600"/>
                </a:cubicBezTo>
                <a:lnTo>
                  <a:pt x="10566400" y="2245525"/>
                </a:lnTo>
                <a:cubicBezTo>
                  <a:pt x="10566400" y="2301637"/>
                  <a:pt x="10520912" y="2347125"/>
                  <a:pt x="10464800" y="2347125"/>
                </a:cubicBezTo>
                <a:lnTo>
                  <a:pt x="101600" y="2347125"/>
                </a:lnTo>
                <a:cubicBezTo>
                  <a:pt x="45488" y="2347125"/>
                  <a:pt x="0" y="2301637"/>
                  <a:pt x="0" y="2245525"/>
                </a:cubicBezTo>
                <a:lnTo>
                  <a:pt x="0" y="2245525"/>
                </a:lnTo>
                <a:cubicBezTo>
                  <a:pt x="0" y="2298130"/>
                  <a:pt x="45488" y="2340775"/>
                  <a:pt x="101600" y="2340775"/>
                </a:cubicBezTo>
                <a:lnTo>
                  <a:pt x="10464800" y="2340775"/>
                </a:lnTo>
                <a:cubicBezTo>
                  <a:pt x="10517405" y="2340775"/>
                  <a:pt x="10560050" y="2298130"/>
                  <a:pt x="10560050" y="2245525"/>
                </a:cubicBezTo>
                <a:lnTo>
                  <a:pt x="10560050" y="101600"/>
                </a:lnTo>
                <a:cubicBezTo>
                  <a:pt x="10560050" y="45488"/>
                  <a:pt x="10517405" y="0"/>
                  <a:pt x="10464800" y="0"/>
                </a:cubicBezTo>
                <a:close/>
              </a:path>
            </a:pathLst>
          </a:custGeom>
          <a:solidFill>
            <a:srgbClr val="D5DE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812800" y="1836341"/>
            <a:ext cx="10566400" cy="2347125"/>
          </a:xfrm>
          <a:custGeom>
            <a:rect b="b" l="l" r="r" t="t"/>
            <a:pathLst>
              <a:path extrusionOk="0" h="2347125" w="10566400">
                <a:moveTo>
                  <a:pt x="101600" y="2347125"/>
                </a:moveTo>
                <a:lnTo>
                  <a:pt x="101600" y="2347125"/>
                </a:lnTo>
                <a:cubicBezTo>
                  <a:pt x="45488" y="2347125"/>
                  <a:pt x="0" y="2301637"/>
                  <a:pt x="0" y="2245525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10464800" y="0"/>
                </a:lnTo>
                <a:cubicBezTo>
                  <a:pt x="10491746" y="0"/>
                  <a:pt x="10517588" y="10704"/>
                  <a:pt x="10536642" y="29758"/>
                </a:cubicBezTo>
                <a:cubicBezTo>
                  <a:pt x="10555696" y="48812"/>
                  <a:pt x="10566400" y="74654"/>
                  <a:pt x="10566400" y="101600"/>
                </a:cubicBezTo>
                <a:lnTo>
                  <a:pt x="10566400" y="101600"/>
                </a:lnTo>
                <a:cubicBezTo>
                  <a:pt x="10566400" y="52502"/>
                  <a:pt x="10520912" y="12700"/>
                  <a:pt x="10464800" y="12700"/>
                </a:cubicBezTo>
                <a:lnTo>
                  <a:pt x="101600" y="12700"/>
                </a:lnTo>
                <a:cubicBezTo>
                  <a:pt x="52502" y="12700"/>
                  <a:pt x="12700" y="52502"/>
                  <a:pt x="12700" y="101600"/>
                </a:cubicBezTo>
                <a:lnTo>
                  <a:pt x="12700" y="2245525"/>
                </a:lnTo>
                <a:cubicBezTo>
                  <a:pt x="12700" y="2301637"/>
                  <a:pt x="52502" y="2347125"/>
                  <a:pt x="101600" y="2347125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4" name="Google Shape;304;p11"/>
          <p:cNvGraphicFramePr/>
          <p:nvPr/>
        </p:nvGraphicFramePr>
        <p:xfrm>
          <a:off x="825500" y="1849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{0083E8BE-6C23-4984-A443-61333E315E72}</a:tableStyleId>
              </a:tblPr>
              <a:tblGrid>
                <a:gridCol w="3797050"/>
                <a:gridCol w="1265675"/>
                <a:gridCol w="548462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F3EE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9F3EE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Riesgo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9F3EE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9F3EE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Impacto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C535"/>
                        </a:buClr>
                        <a:buSzPts val="1200"/>
                        <a:buFont typeface="Manrope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C535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Mitigación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620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Fuga de datos entre empresas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382A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B8382A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Alto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RLS en la BD, contexto por solicitud y pruebas A contra B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22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IA: lectura errónea de boletas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El usuario revisa y confirma; si falla, formulario manual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IA: costo variable por página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US$ 0,01 por página; el CSV/XLSX no tiene costo de IA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IA: datos sensibles en documentos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Se procesan en Azure; un contenedor por empresa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DC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Archivos CSV/XLSX mal formados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Plantilla fija, validación por fila y vista previa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4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Retrasos frente al calendario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Medio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2620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cap="none" strike="noStrike">
                          <a:solidFill>
                            <a:srgbClr val="0B262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Alcance v1 cerrado; HU13 y HU15 se pueden postergar</a:t>
                      </a:r>
                      <a:endParaRPr sz="12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Filas en amarillo: riesgos asociados a la inteligencia artificial.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3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0F6E55"/>
                </a:solidFill>
                <a:latin typeface="Manrope"/>
                <a:ea typeface="Manrope"/>
                <a:cs typeface="Manrope"/>
                <a:sym typeface="Manrope"/>
              </a:rPr>
              <a:t>PRESUPUESTO ESTIMADO · V2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3" name="Google Shape;313;p12"/>
          <p:cNvSpPr txBox="1"/>
          <p:nvPr>
            <p:ph type="title"/>
          </p:nvPr>
        </p:nvSpPr>
        <p:spPr>
          <a:xfrm>
            <a:off x="812800" y="1102320"/>
            <a:ext cx="10883392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3600"/>
              <a:buFont typeface="Bricolage Grotesque"/>
              <a:buNone/>
            </a:pPr>
            <a:r>
              <a:rPr b="1" i="0" lang="en-US" sz="3600">
                <a:solidFill>
                  <a:srgbClr val="0B26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Operar 10 PYMEs cuesta poco</a:t>
            </a:r>
            <a:endParaRPr sz="3600"/>
          </a:p>
        </p:txBody>
      </p:sp>
      <p:sp>
        <p:nvSpPr>
          <p:cNvPr id="314" name="Google Shape;314;p12"/>
          <p:cNvSpPr/>
          <p:nvPr/>
        </p:nvSpPr>
        <p:spPr>
          <a:xfrm>
            <a:off x="812800" y="1836341"/>
            <a:ext cx="3810000" cy="1051520"/>
          </a:xfrm>
          <a:prstGeom prst="roundRect">
            <a:avLst>
              <a:gd fmla="val 13286" name="adj"/>
            </a:avLst>
          </a:prstGeom>
          <a:solidFill>
            <a:srgbClr val="0B2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041400" y="2014141"/>
            <a:ext cx="3453384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3600"/>
              <a:buFont typeface="Bricolage Grotesque"/>
              <a:buNone/>
            </a:pPr>
            <a:r>
              <a:rPr b="1" i="0" lang="en-US" sz="3600" u="none" cap="none" strike="noStrike">
                <a:solidFill>
                  <a:srgbClr val="F5C5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US$ 25,41</a:t>
            </a:r>
            <a:endParaRPr b="0" i="0" sz="3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041400" y="2496741"/>
            <a:ext cx="345338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al mes · unos $24.820 CLP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815975" y="3018036"/>
            <a:ext cx="1835150" cy="940991"/>
          </a:xfrm>
          <a:prstGeom prst="roundRect">
            <a:avLst>
              <a:gd fmla="val 14509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96950" y="3173611"/>
            <a:ext cx="15240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2200"/>
              <a:buFont typeface="IBM Plex Mono"/>
              <a:buNone/>
            </a:pPr>
            <a:r>
              <a:rPr b="1" i="0" lang="en-US" sz="2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US$ 2,54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996950" y="3590131"/>
            <a:ext cx="15240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por PYME al mes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2784475" y="3018036"/>
            <a:ext cx="1835150" cy="940991"/>
          </a:xfrm>
          <a:prstGeom prst="roundRect">
            <a:avLst>
              <a:gd fmla="val 14509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2965450" y="3173611"/>
            <a:ext cx="15240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6E55"/>
              </a:buClr>
              <a:buSzPts val="2200"/>
              <a:buFont typeface="IBM Plex Mono"/>
              <a:buNone/>
            </a:pPr>
            <a:r>
              <a:rPr b="1" i="0" lang="en-US" sz="2200" u="none" cap="none" strike="noStrike">
                <a:solidFill>
                  <a:srgbClr val="0F6E55"/>
                </a:solidFill>
                <a:latin typeface="IBM Plex Mono"/>
                <a:ea typeface="IBM Plex Mono"/>
                <a:cs typeface="IBM Plex Mono"/>
                <a:sym typeface="IBM Plex Mono"/>
              </a:rPr>
              <a:t>US$ 0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2965450" y="3590131"/>
            <a:ext cx="15240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durante el Capstone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812800" y="4089202"/>
            <a:ext cx="39243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Escenario: 10 PYMEs, 30 usuarios y 1.000 boletas leídas con IA al mes.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930775" y="1839516"/>
            <a:ext cx="6445250" cy="2580481"/>
          </a:xfrm>
          <a:prstGeom prst="roundRect">
            <a:avLst>
              <a:gd fmla="val 5291" name="adj"/>
            </a:avLst>
          </a:prstGeom>
          <a:solidFill>
            <a:srgbClr val="FFFFFF"/>
          </a:solidFill>
          <a:ln cap="flat" cmpd="sng" w="9525">
            <a:solidFill>
              <a:srgbClr val="D5D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187950" y="2053530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Azure SQL · Standard S0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727950" y="2045891"/>
            <a:ext cx="2387600" cy="228600"/>
          </a:xfrm>
          <a:prstGeom prst="roundRect">
            <a:avLst>
              <a:gd fmla="val 16667" name="adj"/>
            </a:avLst>
          </a:prstGeom>
          <a:solidFill>
            <a:srgbClr val="0F6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0242550" y="2053530"/>
            <a:ext cx="6584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IBM Plex Mono"/>
                <a:ea typeface="IBM Plex Mono"/>
                <a:cs typeface="IBM Plex Mono"/>
                <a:sym typeface="IBM Plex Mono"/>
              </a:rPr>
              <a:t>$14,72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187950" y="2371030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Document Intelligence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7727950" y="2363391"/>
            <a:ext cx="1625600" cy="228600"/>
          </a:xfrm>
          <a:prstGeom prst="roundRect">
            <a:avLst>
              <a:gd fmla="val 16667" name="adj"/>
            </a:avLst>
          </a:prstGeom>
          <a:solidFill>
            <a:srgbClr val="F5C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9480550" y="2371030"/>
            <a:ext cx="6584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IBM Plex Mono"/>
                <a:ea typeface="IBM Plex Mono"/>
                <a:cs typeface="IBM Plex Mono"/>
                <a:sym typeface="IBM Plex Mono"/>
              </a:rPr>
              <a:t>$10,00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187950" y="2688530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Blob Storage · 21 GB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727950" y="2680891"/>
            <a:ext cx="114300" cy="228600"/>
          </a:xfrm>
          <a:prstGeom prst="roundRect">
            <a:avLst>
              <a:gd fmla="val 33333" name="adj"/>
            </a:avLst>
          </a:prstGeom>
          <a:solidFill>
            <a:srgbClr val="0F6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7969250" y="2688530"/>
            <a:ext cx="5486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IBM Plex Mono"/>
                <a:ea typeface="IBM Plex Mono"/>
                <a:cs typeface="IBM Plex Mono"/>
                <a:sym typeface="IBM Plex Mono"/>
              </a:rPr>
              <a:t>$0,69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line" id="334" name="Google Shape;3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950" y="2998391"/>
            <a:ext cx="5930900" cy="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2"/>
          <p:cNvSpPr/>
          <p:nvPr/>
        </p:nvSpPr>
        <p:spPr>
          <a:xfrm>
            <a:off x="5187950" y="3093641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Azure Functions Flex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7727950" y="3093641"/>
            <a:ext cx="2414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$0,00 · cuota gratuita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187950" y="3395861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Entra External ID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7727950" y="3395861"/>
            <a:ext cx="318218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$0,00 · hasta 50.000 usuarios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187950" y="3698081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Application Insights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7727950" y="3698081"/>
            <a:ext cx="241411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$0,00 · cuota gratuita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187950" y="4000302"/>
            <a:ext cx="24853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Manrope"/>
                <a:ea typeface="Manrope"/>
                <a:cs typeface="Manrope"/>
                <a:sym typeface="Manrope"/>
              </a:rPr>
              <a:t>Netlify · GitHub Actions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727950" y="4000302"/>
            <a:ext cx="23043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$0,00 · plan gratuito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812800" y="6238280"/>
            <a:ext cx="88296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Manrope"/>
                <a:ea typeface="Manrope"/>
                <a:cs typeface="Manrope"/>
                <a:sym typeface="Manrope"/>
              </a:rPr>
              <a:t>Fuente: Azure Pricing Calculator, 13-10-2026, USD sin impuestos · dólar a $976,88.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D625B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4D625B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62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812800" y="239653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C535"/>
              </a:buClr>
              <a:buSzPts val="1200"/>
              <a:buFont typeface="Manrope"/>
              <a:buNone/>
            </a:pPr>
            <a:r>
              <a:rPr b="1" i="0" lang="en-US" sz="1200" u="none" cap="none" strike="noStrike">
                <a:solidFill>
                  <a:srgbClr val="F5C535"/>
                </a:solidFill>
                <a:latin typeface="Manrope"/>
                <a:ea typeface="Manrope"/>
                <a:cs typeface="Manrope"/>
                <a:sym typeface="Manrope"/>
              </a:rPr>
              <a:t>KONTADORIA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1" name="Google Shape;351;p14"/>
          <p:cNvSpPr txBox="1"/>
          <p:nvPr>
            <p:ph type="title"/>
          </p:nvPr>
        </p:nvSpPr>
        <p:spPr>
          <a:xfrm>
            <a:off x="812800" y="2863850"/>
            <a:ext cx="10883392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8000"/>
              <a:buFont typeface="Bricolage Grotesque"/>
              <a:buNone/>
            </a:pPr>
            <a:r>
              <a:rPr b="1" i="0" lang="en-US" sz="8000">
                <a:solidFill>
                  <a:srgbClr val="E9F3E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Gracias</a:t>
            </a:r>
            <a:endParaRPr sz="8000"/>
          </a:p>
        </p:txBody>
      </p:sp>
      <p:sp>
        <p:nvSpPr>
          <p:cNvPr id="352" name="Google Shape;352;p14"/>
          <p:cNvSpPr/>
          <p:nvPr/>
        </p:nvSpPr>
        <p:spPr>
          <a:xfrm>
            <a:off x="812800" y="4133850"/>
            <a:ext cx="1417340" cy="327620"/>
          </a:xfrm>
          <a:prstGeom prst="roundRect">
            <a:avLst>
              <a:gd fmla="val 11629" name="adj"/>
            </a:avLst>
          </a:prstGeom>
          <a:solidFill>
            <a:srgbClr val="F5C535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2620"/>
              </a:buClr>
              <a:buSzPts val="1200"/>
              <a:buFont typeface="IBM Plex Mono"/>
              <a:buNone/>
            </a:pPr>
            <a:r>
              <a:rPr b="0" i="0" lang="en-US" sz="1200" u="none" cap="none" strike="noStrike">
                <a:solidFill>
                  <a:srgbClr val="0B2620"/>
                </a:solidFill>
                <a:latin typeface="IBM Plex Mono"/>
                <a:ea typeface="IBM Plex Mono"/>
                <a:cs typeface="IBM Plex Mono"/>
                <a:sym typeface="IBM Plex Mono"/>
              </a:rPr>
              <a:t>kontadoria.cl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334915" y="4137025"/>
            <a:ext cx="2328366" cy="32127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FB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Diego Gallardo · Scrum Master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771231" y="4137025"/>
            <a:ext cx="2683371" cy="32127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FB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Vicente Hermosilla · Product Owner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562552" y="4137025"/>
            <a:ext cx="2346325" cy="32127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FB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F3EE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E9F3EE"/>
                </a:solidFill>
                <a:latin typeface="Manrope"/>
                <a:ea typeface="Manrope"/>
                <a:cs typeface="Manrope"/>
                <a:sym typeface="Manrope"/>
              </a:rPr>
              <a:t>Felipe Quezada · Desarrollador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ontadorIA — Presentación Fase 2">
  <a:themeElements>
    <a:clrScheme name="KontadorIA — Presentación Fase 2">
      <a:dk1>
        <a:srgbClr val="0B2620"/>
      </a:dk1>
      <a:lt1>
        <a:srgbClr val="F2F5F3"/>
      </a:lt1>
      <a:dk2>
        <a:srgbClr val="455A55"/>
      </a:dk2>
      <a:lt2>
        <a:srgbClr val="DBE0DE"/>
      </a:lt2>
      <a:accent1>
        <a:srgbClr val="0F6E55"/>
      </a:accent1>
      <a:accent2>
        <a:srgbClr val="F5C535"/>
      </a:accent2>
      <a:accent3>
        <a:srgbClr val="3FBF8F"/>
      </a:accent3>
      <a:accent4>
        <a:srgbClr val="4D625B"/>
      </a:accent4>
      <a:accent5>
        <a:srgbClr val="D7ECE3"/>
      </a:accent5>
      <a:accent6>
        <a:srgbClr val="9DB1A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ontadorIA — Presentación Fase 2">
  <a:themeElements>
    <a:clrScheme name="KontadorIA — Presentación Fase 2">
      <a:dk1>
        <a:srgbClr val="0B2620"/>
      </a:dk1>
      <a:lt1>
        <a:srgbClr val="F2F5F3"/>
      </a:lt1>
      <a:dk2>
        <a:srgbClr val="455A55"/>
      </a:dk2>
      <a:lt2>
        <a:srgbClr val="DBE0DE"/>
      </a:lt2>
      <a:accent1>
        <a:srgbClr val="0F6E55"/>
      </a:accent1>
      <a:accent2>
        <a:srgbClr val="F5C535"/>
      </a:accent2>
      <a:accent3>
        <a:srgbClr val="3FBF8F"/>
      </a:accent3>
      <a:accent4>
        <a:srgbClr val="4D625B"/>
      </a:accent4>
      <a:accent5>
        <a:srgbClr val="D7ECE3"/>
      </a:accent5>
      <a:accent6>
        <a:srgbClr val="9DB1A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2026-10-15T03:16:47Z</dcterms:created>
</cp:coreProperties>
</file>