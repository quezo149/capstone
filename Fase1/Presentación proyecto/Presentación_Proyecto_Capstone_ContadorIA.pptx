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cQbZ0QBIVqcjCY+Og4SgY47Ck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40080" y="1051560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100584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300"/>
              <a:buFont typeface="Arial"/>
              <a:buNone/>
            </a:pPr>
            <a:r>
              <a:rPr b="1" lang="es-CL" sz="13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PROYECTO CAPSTONE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64008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lang="es-CL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Contador</a:t>
            </a:r>
            <a:r>
              <a:rPr b="1" lang="es-CL" sz="6000">
                <a:solidFill>
                  <a:srgbClr val="1FC8B4"/>
                </a:solidFill>
                <a:latin typeface="Cambria"/>
                <a:ea typeface="Cambria"/>
                <a:cs typeface="Cambria"/>
                <a:sym typeface="Cambria"/>
              </a:rPr>
              <a:t>IA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640080" y="26974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Gestión financiera simple e inteligente para PYMEs chilenas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" y="5212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40080" y="5399859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Diego Gallardo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Quezada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Vicente Hermosilla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4297680" y="5212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PROFESOR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4297680" y="54864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Cindy Betzabé Contador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955280" y="5212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ASIGNATURA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955280" y="54864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CONTENIDO DE LA PRESENTACIÓN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170432" y="158191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 y problemática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170432" y="235915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afectados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1170432" y="313639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 propuesta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40080" y="3931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170432" y="391363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del proyecto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170432" y="469087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 y justificación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63640" y="160020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6263640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793992" y="158191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Carta Gantt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63640" y="237744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263640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793992" y="235915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 de trabajo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263640" y="315468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6263640" y="3154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6793992" y="313639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Prototipo inicial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63640" y="393192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263640" y="3931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6793992" y="391363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aprenderemos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63640" y="4709160"/>
            <a:ext cx="384048" cy="384048"/>
          </a:xfrm>
          <a:prstGeom prst="ellipse">
            <a:avLst/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6263640" y="4709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793992" y="4690872"/>
            <a:ext cx="4590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Conclusión y siguientes pasos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s-CL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Las PYMEs pierden tiempo y control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CONTEXTO Y PROBLEMÁTICA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950976" y="1947672"/>
            <a:ext cx="5815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 manual en Excel, papel u otros métodos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0080" y="293522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950976" y="2724912"/>
            <a:ext cx="5815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dispersos, sin visión financiera en tiempo real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371246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950976" y="3471351"/>
            <a:ext cx="5815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Decisiones de negocio sin información clara y centralizada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132320" y="1463040"/>
            <a:ext cx="4419295" cy="4206240"/>
          </a:xfrm>
          <a:prstGeom prst="roundRect">
            <a:avLst>
              <a:gd fmla="val 8398" name="adj"/>
            </a:avLst>
          </a:prstGeom>
          <a:solidFill>
            <a:srgbClr val="13294B"/>
          </a:solidFill>
          <a:ln cap="flat" cmpd="sng" w="15875">
            <a:solidFill>
              <a:srgbClr val="1FC8B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4000" y="1476000"/>
            <a:ext cx="4356000" cy="4176000"/>
          </a:xfrm>
          <a:prstGeom prst="roundRect">
            <a:avLst>
              <a:gd fmla="val 808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Usuarios y personas afectadas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A QUIÉN IMPACTA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40080" y="1691640"/>
            <a:ext cx="3429000" cy="2834640"/>
          </a:xfrm>
          <a:prstGeom prst="roundRect">
            <a:avLst>
              <a:gd fmla="val 258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9611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896112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89611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Dueño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896112" y="2807208"/>
            <a:ext cx="29169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Necesita visión completa del negocio para decidir.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389120" y="1691640"/>
            <a:ext cx="3429000" cy="2834640"/>
          </a:xfrm>
          <a:prstGeom prst="roundRect">
            <a:avLst>
              <a:gd fmla="val 258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4515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645152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464515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Contador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4645152" y="2807208"/>
            <a:ext cx="29169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Accede a información ordenada y trazable.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138160" y="1691640"/>
            <a:ext cx="3429000" cy="2834640"/>
          </a:xfrm>
          <a:prstGeom prst="roundRect">
            <a:avLst>
              <a:gd fmla="val 258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39419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8394192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839419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Empleado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8394192" y="2807208"/>
            <a:ext cx="29169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Registra gastos sin fricción, sin ver todo el negocio.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640080" y="4892040"/>
            <a:ext cx="109115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400"/>
              <a:buFont typeface="Arial"/>
              <a:buNone/>
            </a:pPr>
            <a:r>
              <a:rPr i="1" lang="es-CL" sz="140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Plataforma multiusuario y multiempresa: cada PYME cliente con su propio espacio de datos, completamente aislado.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ContadorIA centraliza tu gestión financiera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A QUIÉN IMPACTA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0080" y="1691640"/>
            <a:ext cx="3429000" cy="2834640"/>
          </a:xfrm>
          <a:prstGeom prst="roundRect">
            <a:avLst>
              <a:gd fmla="val 258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9611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896112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89611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Carga Manual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896112" y="2807208"/>
            <a:ext cx="29169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Carga manual de movimientos, simple y rápida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389120" y="1691640"/>
            <a:ext cx="3429000" cy="2834640"/>
          </a:xfrm>
          <a:prstGeom prst="roundRect">
            <a:avLst>
              <a:gd fmla="val 258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64515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4645152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64515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Extracción automática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645152" y="2807208"/>
            <a:ext cx="29169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Extracción automática desde boletas y facturas con IA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138160" y="1691640"/>
            <a:ext cx="3429000" cy="2834640"/>
          </a:xfrm>
          <a:prstGeom prst="roundRect">
            <a:avLst>
              <a:gd fmla="val 258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39419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8394192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839419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Importación masiva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8394192" y="2807208"/>
            <a:ext cx="291693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Importación masiva desde Excel/CSV, sin reescribir nada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640080" y="4892040"/>
            <a:ext cx="109115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Sin obligar a abandonar de golpe las herramientas que ya usan.</a:t>
            </a:r>
            <a:endParaRPr sz="1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Objetivos del proyecto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QUÉ BUSCAMOS LOGRAR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40080" y="1554480"/>
            <a:ext cx="10911535" cy="1042416"/>
          </a:xfrm>
          <a:prstGeom prst="roundRect">
            <a:avLst>
              <a:gd fmla="val 7619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91440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914400" y="1965960"/>
            <a:ext cx="103628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Facilitar y automatizar la gestión financiera de las PYMEs chilenas, reduciendo la complejidad del control manual de boletas, facturas, ingresos y gastos.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0080" y="330098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950976" y="3064684"/>
            <a:ext cx="4855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 SaaS multiusuario que centraliza los movimientos financieros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172200" y="330098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483096" y="2953512"/>
            <a:ext cx="4855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Digitalizar boletas y facturas con inteligencia artificial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40080" y="426110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914400" y="3886681"/>
            <a:ext cx="4855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Importación masiva desde Excel/CSV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172200" y="426110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483096" y="3913632"/>
            <a:ext cx="4855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Multiempresa, con roles y datos aislados por cliente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s-CL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Scrum: entrega incremental y priorizada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METODOLOGÍA Y JUSTIFICACIÓN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950976" y="1952003"/>
            <a:ext cx="106006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Múltiples funcionalidades, construidas de forma incremental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40080" y="293522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950976" y="2724912"/>
            <a:ext cx="106006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Sprints con objetivo definido y avances evaluados periódicamente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0080" y="371246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950976" y="3497821"/>
            <a:ext cx="106006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Prioridades que se ajustan a medida que el proyecto evoluciona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" y="475488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640080" y="47548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s-CL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3108960" y="475488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566160" y="475488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3566160" y="47548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s-CL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6035040" y="475488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492240" y="475488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492240" y="47548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s-CL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8961120" y="475488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418320" y="475488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7335C"/>
          </a:solidFill>
          <a:ln cap="flat" cmpd="sng" w="12700">
            <a:solidFill>
              <a:srgbClr val="1F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9418320" y="47548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s-CL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Carta Gantt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PLANIFICACIÓN · 18 SEMANAS · 3 FASES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0080" y="1417320"/>
            <a:ext cx="10911535" cy="4892040"/>
          </a:xfrm>
          <a:prstGeom prst="roundRect">
            <a:avLst>
              <a:gd fmla="val 11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5143"/>
          <a:stretch/>
        </p:blipFill>
        <p:spPr>
          <a:xfrm>
            <a:off x="640080" y="1417320"/>
            <a:ext cx="10911535" cy="4894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Herramientas de trabajo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169164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9611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89611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Frontend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896112" y="2807208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React (JavaScript/TypeScript) · PWA responsive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389120" y="169164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64515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464515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Backend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4645152" y="2807208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Python · FastAPI · Azure Functions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138160" y="169164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394192" y="192938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8394192" y="244144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Cloud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8394192" y="2807208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Azure SQL · Blob Storage · AI Document Intelligence · AD B2C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40080" y="393192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96112" y="416966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896112" y="468172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Versionado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896112" y="5047488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GitHub + GitHub Actions (CI/CD)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389120" y="3931920"/>
            <a:ext cx="342900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645152" y="416966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4645152" y="4681728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Diseño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4645152" y="5047488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Prototipo inicial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PROPUESTA INICIAL DE DISEÑO — SUJETA A EVOLUCIÓN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052916" y="1376885"/>
            <a:ext cx="9847637" cy="4932000"/>
          </a:xfrm>
          <a:prstGeom prst="roundRect">
            <a:avLst>
              <a:gd fmla="val 10303" name="adj"/>
            </a:avLst>
          </a:prstGeom>
          <a:solidFill>
            <a:srgbClr val="13294B"/>
          </a:solidFill>
          <a:ln cap="flat" cmpd="sng" w="15875">
            <a:solidFill>
              <a:srgbClr val="1FC8B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0"/>
          <p:cNvPicPr preferRelativeResize="0"/>
          <p:nvPr/>
        </p:nvPicPr>
        <p:blipFill rotWithShape="1">
          <a:blip r:embed="rId3">
            <a:alphaModFix/>
          </a:blip>
          <a:srcRect b="6123" l="0" r="0" t="0"/>
          <a:stretch/>
        </p:blipFill>
        <p:spPr>
          <a:xfrm>
            <a:off x="1080734" y="1419800"/>
            <a:ext cx="9792000" cy="4818791"/>
          </a:xfrm>
          <a:prstGeom prst="roundRect">
            <a:avLst>
              <a:gd fmla="val 887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Flujo de navegación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PROPUESTA INICIAL DE DISEÑO — SUJETA A EVOLUCIÓN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445843" y="1463040"/>
            <a:ext cx="5303521" cy="4846320"/>
          </a:xfrm>
          <a:prstGeom prst="roundRect">
            <a:avLst>
              <a:gd fmla="val 1132" name="adj"/>
            </a:avLst>
          </a:prstGeom>
          <a:solidFill>
            <a:srgbClr val="13294B"/>
          </a:solidFill>
          <a:ln cap="flat" cmpd="sng" w="15875">
            <a:solidFill>
              <a:srgbClr val="1FC8B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7407" y="1361314"/>
            <a:ext cx="6136879" cy="5234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s-CL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Qué aprenderemos en este desafío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REFLEXIÓN DE EQUIPO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40080" y="1691640"/>
            <a:ext cx="516636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896112" y="1947672"/>
            <a:ext cx="365760" cy="365760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896112" y="1947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896112" y="2468880"/>
            <a:ext cx="465429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Trabajo colaborativo y gestión de proyectos con Scrum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172200" y="1691640"/>
            <a:ext cx="516636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428232" y="1947672"/>
            <a:ext cx="365760" cy="365760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6428232" y="1947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6428232" y="2468880"/>
            <a:ext cx="465429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Tecnologías nuevas: Azure AD B2C, RLS multi-tenant, IA documental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40080" y="3931920"/>
            <a:ext cx="516636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896112" y="4187952"/>
            <a:ext cx="365760" cy="365760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896112" y="4187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896112" y="4709160"/>
            <a:ext cx="465429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Resolver un problema real de negocio, no solo un ejercicio técnico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172200" y="3931920"/>
            <a:ext cx="5166360" cy="1965960"/>
          </a:xfrm>
          <a:prstGeom prst="roundRect">
            <a:avLst>
              <a:gd fmla="val 3721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428232" y="4187952"/>
            <a:ext cx="365760" cy="365760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6428232" y="4187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6428232" y="4709160"/>
            <a:ext cx="465429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Diseñar pensando en múltiples clientes desde el inicio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300"/>
              <a:buFont typeface="Arial"/>
              <a:buNone/>
            </a:pPr>
            <a:r>
              <a:rPr b="1" lang="es-CL" sz="13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640080" y="178308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s-CL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PYMEs simples, decisiones más inteligentes.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40080" y="348386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950976" y="3355848"/>
            <a:ext cx="96862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PYMEs son mayoría en Chile y muchas no pueden costear un encargado financiero: ContadorIA les da control total, en tiempo real y sin depender de un experto.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40080" y="4398264"/>
            <a:ext cx="128016" cy="128016"/>
          </a:xfrm>
          <a:prstGeom prst="ellipse">
            <a:avLst/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950976" y="4270248"/>
            <a:ext cx="96862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Buscamos entregar una plataforma funcional y fácil de adoptar, sentando las bases de un proyecto con potencial real de continuar como emprendimiento.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640080" y="576072"/>
            <a:ext cx="201168" cy="201168"/>
          </a:xfrm>
          <a:prstGeom prst="roundRect">
            <a:avLst>
              <a:gd fmla="val 18182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1005840" y="429768"/>
            <a:ext cx="105457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s-CL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Siguiente paso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1005840" y="118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CÓMO PARTIMOS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0728655" y="320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C8B4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1FC8B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lang="es-CL" sz="1100">
                <a:solidFill>
                  <a:srgbClr val="7E93AF"/>
                </a:solidFill>
                <a:latin typeface="Arial"/>
                <a:ea typeface="Arial"/>
                <a:cs typeface="Arial"/>
                <a:sym typeface="Arial"/>
              </a:rPr>
              <a:t> / 14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640080" y="1828800"/>
            <a:ext cx="5166360" cy="2377440"/>
          </a:xfrm>
          <a:prstGeom prst="roundRect">
            <a:avLst>
              <a:gd fmla="val 3077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896112" y="206654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896112" y="20665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896112" y="2578608"/>
            <a:ext cx="4654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Paso 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896112" y="2944368"/>
            <a:ext cx="46542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Aprovisionar la infraestructura base en Azure y cerrar el diseño del prototipo en Figma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172200" y="1828800"/>
            <a:ext cx="5166360" cy="2377440"/>
          </a:xfrm>
          <a:prstGeom prst="roundRect">
            <a:avLst>
              <a:gd fmla="val 3077" name="adj"/>
            </a:avLst>
          </a:prstGeom>
          <a:solidFill>
            <a:srgbClr val="1733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6428232" y="2066544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1FC8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6428232" y="20665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s-CL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6428232" y="2578608"/>
            <a:ext cx="4654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CL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Paso 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6428232" y="2944368"/>
            <a:ext cx="46542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C0D6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AEC0D6"/>
                </a:solidFill>
                <a:latin typeface="Arial"/>
                <a:ea typeface="Arial"/>
                <a:cs typeface="Arial"/>
                <a:sym typeface="Arial"/>
              </a:rPr>
              <a:t>Definir el área de trabajo de cada integrante para partir con roles claros desde el día uno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2026-08-30T19:10:04Z</dcterms:created>
  <dc:creator>PptxGenJS</dc:creator>
</cp:coreProperties>
</file>